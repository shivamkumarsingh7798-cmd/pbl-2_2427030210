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7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6" r:id="rId8"/>
    <p:sldId id="260" r:id="rId9"/>
    <p:sldId id="267" r:id="rId10"/>
    <p:sldId id="271" r:id="rId11"/>
    <p:sldId id="272" r:id="rId12"/>
    <p:sldId id="273" r:id="rId13"/>
    <p:sldId id="264" r:id="rId14"/>
    <p:sldId id="265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D4BDD12-89E2-4F3B-8F16-57B29CC0E75D}" v="7" dt="2026-04-12T09:06:52.91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539" autoAdjust="0"/>
    <p:restoredTop sz="94660"/>
  </p:normalViewPr>
  <p:slideViewPr>
    <p:cSldViewPr snapToGrid="0" snapToObjects="1">
      <p:cViewPr varScale="1">
        <p:scale>
          <a:sx n="74" d="100"/>
          <a:sy n="74" d="100"/>
        </p:scale>
        <p:origin x="1858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6858000"/>
            <a:chOff x="0" y="0"/>
            <a:chExt cx="9144000" cy="6858000"/>
          </a:xfrm>
        </p:grpSpPr>
        <p:pic>
          <p:nvPicPr>
            <p:cNvPr id="7" name="Picture 6" descr="SD-PanelTitle-V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9144000" cy="6858000"/>
            </a:xfrm>
            <a:prstGeom prst="rect">
              <a:avLst/>
            </a:prstGeom>
          </p:spPr>
        </p:pic>
        <p:sp>
          <p:nvSpPr>
            <p:cNvPr id="11" name="Rectangle 10"/>
            <p:cNvSpPr/>
            <p:nvPr/>
          </p:nvSpPr>
          <p:spPr>
            <a:xfrm>
              <a:off x="1515532" y="1520422"/>
              <a:ext cx="6112935" cy="3818468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2" name="Picture 11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2" r="47959"/>
            <a:stretch/>
          </p:blipFill>
          <p:spPr>
            <a:xfrm rot="5400000">
              <a:off x="3739196" y="525780"/>
              <a:ext cx="1664208" cy="612648"/>
            </a:xfrm>
            <a:prstGeom prst="rect">
              <a:avLst/>
            </a:prstGeom>
          </p:spPr>
        </p:pic>
        <p:pic>
          <p:nvPicPr>
            <p:cNvPr id="14" name="Picture 13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2" r="47959"/>
            <a:stretch/>
          </p:blipFill>
          <p:spPr>
            <a:xfrm rot="5400000">
              <a:off x="3739196" y="5719572"/>
              <a:ext cx="1664208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21934" y="1811863"/>
            <a:ext cx="5308866" cy="1515533"/>
          </a:xfrm>
        </p:spPr>
        <p:txBody>
          <a:bodyPr anchor="b">
            <a:noAutofit/>
          </a:bodyPr>
          <a:lstStyle>
            <a:lvl1pPr algn="ctr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21934" y="3598327"/>
            <a:ext cx="5308866" cy="1377651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65417" y="5054602"/>
            <a:ext cx="673276" cy="27940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21934" y="5054602"/>
            <a:ext cx="4064860" cy="2794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17317" y="5054602"/>
            <a:ext cx="413483" cy="27940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019825" y="3471329"/>
            <a:ext cx="5113083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49816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278466" y="2354670"/>
            <a:ext cx="6595533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3682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78465" y="1641413"/>
            <a:ext cx="6595534" cy="1822514"/>
          </a:xfrm>
        </p:spPr>
        <p:txBody>
          <a:bodyPr anchor="b">
            <a:normAutofit/>
          </a:bodyPr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78465" y="3734859"/>
            <a:ext cx="6595534" cy="1090015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278466" y="3599392"/>
            <a:ext cx="6595533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0664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278465" y="235626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6" y="915337"/>
            <a:ext cx="6798734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76866" y="2487168"/>
            <a:ext cx="3337560" cy="344728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5152" y="2487168"/>
            <a:ext cx="3337560" cy="344728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8282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8" y="2658533"/>
            <a:ext cx="333756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76868" y="3243262"/>
            <a:ext cx="3337560" cy="270662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1832" y="2658533"/>
            <a:ext cx="333756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1832" y="3243262"/>
            <a:ext cx="3337560" cy="270662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41" name="Straight Connector 40"/>
          <p:cNvCxnSpPr/>
          <p:nvPr/>
        </p:nvCxnSpPr>
        <p:spPr>
          <a:xfrm>
            <a:off x="1278466" y="235467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56412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915337"/>
            <a:ext cx="6798735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78466" y="235467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93310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364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1388534"/>
            <a:ext cx="2536798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20062" y="982132"/>
            <a:ext cx="3855539" cy="4893735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76865" y="3031065"/>
            <a:ext cx="2536798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1278466" y="2912533"/>
            <a:ext cx="233359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35550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1883832"/>
            <a:ext cx="3632202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070" y="1032933"/>
            <a:ext cx="2929463" cy="4792136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76865" y="3255432"/>
            <a:ext cx="3632201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31096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6" y="4815415"/>
            <a:ext cx="6798734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26260" y="1032933"/>
            <a:ext cx="7091482" cy="33612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76866" y="5382153"/>
            <a:ext cx="6798734" cy="49371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1103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6" y="906873"/>
            <a:ext cx="6798734" cy="309786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5" y="4275666"/>
            <a:ext cx="6798736" cy="16002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278465" y="4140199"/>
            <a:ext cx="660642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02465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34333" y="982132"/>
            <a:ext cx="6400250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00200" y="3352799"/>
            <a:ext cx="5892798" cy="651933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3" y="4343400"/>
            <a:ext cx="6798738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49969" y="905362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3503" y="2827870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278466" y="4140199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64555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9" y="3308581"/>
            <a:ext cx="679872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8" y="4777381"/>
            <a:ext cx="679873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19346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09416" y="982132"/>
            <a:ext cx="632516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2"/>
          <p:cNvSpPr>
            <a:spLocks noGrp="1"/>
          </p:cNvSpPr>
          <p:nvPr>
            <p:ph type="body" idx="13"/>
          </p:nvPr>
        </p:nvSpPr>
        <p:spPr>
          <a:xfrm>
            <a:off x="1176868" y="3639312"/>
            <a:ext cx="6798730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5" y="4529667"/>
            <a:ext cx="6798736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78060" y="896895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49796" y="260772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278466" y="342900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17777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982131"/>
            <a:ext cx="6798734" cy="2294467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2"/>
          <p:cNvSpPr>
            <a:spLocks noGrp="1"/>
          </p:cNvSpPr>
          <p:nvPr>
            <p:ph type="body" idx="13"/>
          </p:nvPr>
        </p:nvSpPr>
        <p:spPr>
          <a:xfrm>
            <a:off x="1176868" y="3566160"/>
            <a:ext cx="6798730" cy="905256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6" y="4470400"/>
            <a:ext cx="6798734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278469" y="3429000"/>
            <a:ext cx="6606421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97441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76865" y="2490135"/>
            <a:ext cx="6798736" cy="338573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78466" y="2354670"/>
            <a:ext cx="660642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604846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56667" y="906873"/>
            <a:ext cx="1618930" cy="496899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76867" y="906873"/>
            <a:ext cx="4915509" cy="496899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6245512" y="906873"/>
            <a:ext cx="0" cy="4968993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89871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9144000" cy="6858001"/>
            <a:chOff x="0" y="0"/>
            <a:chExt cx="9144000" cy="6858001"/>
          </a:xfrm>
        </p:grpSpPr>
        <p:pic>
          <p:nvPicPr>
            <p:cNvPr id="8" name="Picture 7" descr="SD-PanelContent-V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9144000" cy="6858000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553888" y="542807"/>
              <a:ext cx="8039776" cy="5756392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14240"/>
            <a:stretch/>
          </p:blipFill>
          <p:spPr>
            <a:xfrm rot="5400000">
              <a:off x="4221675" y="39689"/>
              <a:ext cx="68580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14240"/>
            <a:stretch/>
          </p:blipFill>
          <p:spPr>
            <a:xfrm rot="5400000">
              <a:off x="4221675" y="6211888"/>
              <a:ext cx="68580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76866" y="915337"/>
            <a:ext cx="6798734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5" y="2490135"/>
            <a:ext cx="6798736" cy="3444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356670" y="5960533"/>
            <a:ext cx="1148283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76865" y="5960533"/>
            <a:ext cx="510466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80091" y="5960533"/>
            <a:ext cx="39551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3302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  <p:sldLayoutId id="2147483719" r:id="rId12"/>
    <p:sldLayoutId id="2147483720" r:id="rId13"/>
    <p:sldLayoutId id="2147483721" r:id="rId14"/>
    <p:sldLayoutId id="2147483722" r:id="rId15"/>
    <p:sldLayoutId id="2147483723" r:id="rId16"/>
    <p:sldLayoutId id="2147483724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>
                <a:latin typeface="Bahnschrift" panose="020B0502040204020203" pitchFamily="34" charset="0"/>
                <a:ea typeface="Artifakt Element Heavy" panose="020B0B03050000020004" pitchFamily="34" charset="0"/>
              </a:rPr>
              <a:t>Energy Consumption Prediction in Households using Machine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latin typeface="Bahnschrift SemiCondensed" panose="020B0502040204020203" pitchFamily="34" charset="0"/>
              </a:rPr>
              <a:t>Submitted By: </a:t>
            </a:r>
            <a:r>
              <a:rPr lang="en-IN" dirty="0">
                <a:latin typeface="Bahnschrift SemiCondensed" panose="020B0502040204020203" pitchFamily="34" charset="0"/>
              </a:rPr>
              <a:t>Shivam Kumar</a:t>
            </a:r>
            <a:endParaRPr dirty="0">
              <a:latin typeface="Bahnschrift SemiCondensed" panose="020B0502040204020203" pitchFamily="34" charset="0"/>
            </a:endParaRPr>
          </a:p>
          <a:p>
            <a:r>
              <a:rPr dirty="0">
                <a:latin typeface="Bahnschrift SemiCondensed" panose="020B0502040204020203" pitchFamily="34" charset="0"/>
              </a:rPr>
              <a:t>Registration No: </a:t>
            </a:r>
            <a:r>
              <a:rPr lang="en-IN" dirty="0">
                <a:latin typeface="Bahnschrift SemiCondensed" panose="020B0502040204020203" pitchFamily="34" charset="0"/>
              </a:rPr>
              <a:t>2427030210</a:t>
            </a:r>
            <a:endParaRPr dirty="0">
              <a:latin typeface="Bahnschrift SemiCondensed" panose="020B0502040204020203" pitchFamily="34" charset="0"/>
            </a:endParaRPr>
          </a:p>
          <a:p>
            <a:r>
              <a:rPr dirty="0">
                <a:latin typeface="Bahnschrift SemiCondensed" panose="020B0502040204020203" pitchFamily="34" charset="0"/>
              </a:rPr>
              <a:t>Supervised By: </a:t>
            </a:r>
            <a:r>
              <a:rPr lang="en-IN" dirty="0">
                <a:latin typeface="Bahnschrift SemiCondensed" panose="020B0502040204020203" pitchFamily="34" charset="0"/>
              </a:rPr>
              <a:t>Dr Surbhi Sharma</a:t>
            </a:r>
          </a:p>
          <a:p>
            <a:r>
              <a:rPr dirty="0">
                <a:latin typeface="Bahnschrift SemiCondensed" panose="020B0502040204020203" pitchFamily="34" charset="0"/>
              </a:rPr>
              <a:t>School of Computer Science and Engineering</a:t>
            </a:r>
          </a:p>
          <a:p>
            <a:r>
              <a:rPr dirty="0">
                <a:latin typeface="Bahnschrift SemiCondensed" panose="020B0502040204020203" pitchFamily="34" charset="0"/>
              </a:rPr>
              <a:t>Department of Computer Science and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Bahnschrift" panose="020B0502040204020203" pitchFamily="34" charset="0"/>
              </a:rPr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dirty="0">
                <a:latin typeface="Bahnschrift SemiCondensed" panose="020B0502040204020203" pitchFamily="34" charset="0"/>
              </a:rPr>
              <a:t>• Introduction</a:t>
            </a:r>
          </a:p>
          <a:p>
            <a:r>
              <a:rPr dirty="0">
                <a:latin typeface="Bahnschrift SemiCondensed" panose="020B0502040204020203" pitchFamily="34" charset="0"/>
              </a:rPr>
              <a:t>• Literature Review</a:t>
            </a:r>
          </a:p>
          <a:p>
            <a:r>
              <a:rPr dirty="0">
                <a:latin typeface="Bahnschrift SemiCondensed" panose="020B0502040204020203" pitchFamily="34" charset="0"/>
              </a:rPr>
              <a:t>• Problem Statement</a:t>
            </a:r>
          </a:p>
          <a:p>
            <a:r>
              <a:rPr dirty="0">
                <a:latin typeface="Bahnschrift SemiCondensed" panose="020B0502040204020203" pitchFamily="34" charset="0"/>
              </a:rPr>
              <a:t>• Proposed Solution</a:t>
            </a:r>
          </a:p>
          <a:p>
            <a:r>
              <a:rPr lang="en-IN" dirty="0">
                <a:latin typeface="Bahnschrift SemiCondensed" panose="020B0502040204020203" pitchFamily="34" charset="0"/>
              </a:rPr>
              <a:t>• </a:t>
            </a:r>
            <a:r>
              <a:rPr dirty="0">
                <a:latin typeface="Bahnschrift SemiCondensed" panose="020B0502040204020203" pitchFamily="34" charset="0"/>
              </a:rPr>
              <a:t>Objectives</a:t>
            </a:r>
            <a:endParaRPr lang="en-IN" dirty="0">
              <a:latin typeface="Bahnschrift SemiCondensed" panose="020B0502040204020203" pitchFamily="34" charset="0"/>
            </a:endParaRPr>
          </a:p>
          <a:p>
            <a:r>
              <a:rPr lang="en-IN" dirty="0">
                <a:latin typeface="Bahnschrift SemiCondensed" panose="020B0502040204020203" pitchFamily="34" charset="0"/>
              </a:rPr>
              <a:t>• Future Research Potential</a:t>
            </a:r>
            <a:endParaRPr dirty="0">
              <a:latin typeface="Bahnschrift SemiCondensed" panose="020B0502040204020203" pitchFamily="34" charset="0"/>
            </a:endParaRPr>
          </a:p>
          <a:p>
            <a:r>
              <a:rPr dirty="0">
                <a:latin typeface="Bahnschrift SemiCondensed" panose="020B0502040204020203" pitchFamily="34" charset="0"/>
              </a:rPr>
              <a:t>•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Bahnschrift" panose="020B0502040204020203" pitchFamily="34" charset="0"/>
              </a:rPr>
              <a:t>Introduction</a:t>
            </a:r>
            <a:r>
              <a:rPr lang="en-IN" dirty="0">
                <a:latin typeface="Bahnschrift" panose="020B0502040204020203" pitchFamily="34" charset="0"/>
              </a:rPr>
              <a:t>                   </a:t>
            </a:r>
            <a:endParaRPr dirty="0">
              <a:latin typeface="Bahnschrift" panose="020B0502040204020203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76866" y="2400301"/>
            <a:ext cx="6798736" cy="3617960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latin typeface="Bahnschrift SemiCondensed" panose="020B0502040204020203" pitchFamily="34" charset="0"/>
              </a:rPr>
              <a:t>Residential energy consumption represents a significant portion of the overall electricity grid load, highlighting a key area for optimization.</a:t>
            </a:r>
          </a:p>
          <a:p>
            <a:r>
              <a:rPr lang="en-US" dirty="0">
                <a:latin typeface="Bahnschrift SemiCondensed" panose="020B0502040204020203" pitchFamily="34" charset="0"/>
              </a:rPr>
              <a:t>Without effective monitoring, households are prone to inefficient energy use, leading to preventable waste and higher utility expenses.</a:t>
            </a:r>
          </a:p>
          <a:p>
            <a:r>
              <a:rPr lang="en-US" dirty="0">
                <a:latin typeface="Bahnschrift SemiCondensed" panose="020B0502040204020203" pitchFamily="34" charset="0"/>
              </a:rPr>
              <a:t>Machine Learning models can accurately predict energy consumption on a daily or hourly basis by analyzing patterns in appliance usage, historical data, and environmental factors.</a:t>
            </a:r>
          </a:p>
          <a:p>
            <a:r>
              <a:rPr lang="en-US" dirty="0">
                <a:latin typeface="Bahnschrift SemiCondensed" panose="020B0502040204020203" pitchFamily="34" charset="0"/>
              </a:rPr>
              <a:t>Objective: To engineer a predictive system capable of forecasting daily household energy consumption, empowering users to optimize usage and reduce costs</a:t>
            </a:r>
            <a:r>
              <a:rPr lang="en-US" dirty="0"/>
              <a:t>.</a:t>
            </a:r>
            <a:endParaRPr dirty="0"/>
          </a:p>
        </p:txBody>
      </p:sp>
      <p:pic>
        <p:nvPicPr>
          <p:cNvPr id="7" name="Graphic 6" descr="Rocket with solid fill">
            <a:extLst>
              <a:ext uri="{FF2B5EF4-FFF2-40B4-BE49-F238E27FC236}">
                <a16:creationId xmlns:a16="http://schemas.microsoft.com/office/drawing/2014/main" id="{8404AF81-15C1-A29E-9E87-D804AD981C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33209" y="1265933"/>
            <a:ext cx="708339" cy="70833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>
                <a:latin typeface="Bahnschrift" panose="020B0502040204020203" pitchFamily="34" charset="0"/>
                <a:cs typeface="Arial" panose="020B0604020202020204" pitchFamily="34" charset="0"/>
              </a:rPr>
              <a:t>Real Data Example: UCI Household Power Consumption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DED188-ACF4-68A2-7DF0-455B492CAF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771" y="2395684"/>
            <a:ext cx="7674458" cy="3793050"/>
          </a:xfrm>
          <a:prstGeom prst="rect">
            <a:avLst/>
          </a:prstGeom>
        </p:spPr>
      </p:pic>
      <p:pic>
        <p:nvPicPr>
          <p:cNvPr id="4" name="Graphic 3" descr="Bar chart with solid fill">
            <a:extLst>
              <a:ext uri="{FF2B5EF4-FFF2-40B4-BE49-F238E27FC236}">
                <a16:creationId xmlns:a16="http://schemas.microsoft.com/office/drawing/2014/main" id="{DB6A2E03-DF0F-3677-83CA-3B9BB6288D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61909" y="820882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Bahnschrift" panose="020B0502040204020203" pitchFamily="34" charset="0"/>
              </a:rP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Bahnschrift SemiCondensed" panose="020B0502040204020203" pitchFamily="34" charset="0"/>
              </a:rPr>
              <a:t>Inefficient energy consumption in residential settings, often due to a lack of real-time oversight, results in substantial energy waste and elevated financial burdens on households.</a:t>
            </a:r>
          </a:p>
          <a:p>
            <a:r>
              <a:rPr lang="en-US" dirty="0">
                <a:latin typeface="Bahnschrift SemiCondensed" panose="020B0502040204020203" pitchFamily="34" charset="0"/>
              </a:rPr>
              <a:t>Implementing a predictive system to forecast daily consumption based on user activity is essential for empowering homeowners to optimize their energy usage and reduce costs</a:t>
            </a:r>
            <a:r>
              <a:rPr lang="en-US" dirty="0">
                <a:latin typeface="Bahnschrift SemiLight" panose="020B0502040204020203" pitchFamily="34" charset="0"/>
              </a:rPr>
              <a:t>.</a:t>
            </a:r>
            <a:endParaRPr dirty="0">
              <a:latin typeface="Bahnschrift SemiLight" panose="020B0502040204020203" pitchFamily="34" charset="0"/>
            </a:endParaRPr>
          </a:p>
        </p:txBody>
      </p:sp>
      <p:pic>
        <p:nvPicPr>
          <p:cNvPr id="9" name="Graphic 8" descr="Help with solid fill">
            <a:extLst>
              <a:ext uri="{FF2B5EF4-FFF2-40B4-BE49-F238E27FC236}">
                <a16:creationId xmlns:a16="http://schemas.microsoft.com/office/drawing/2014/main" id="{DCCAD396-CE40-7047-6990-928F390646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26827" y="1193197"/>
            <a:ext cx="789709" cy="78970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Bahnschrift" panose="020B0502040204020203" pitchFamily="34" charset="0"/>
              </a:rPr>
              <a:t>Proposed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>
                <a:latin typeface="Bahnschrift SemiCondensed" panose="020B0502040204020203" pitchFamily="34" charset="0"/>
              </a:rPr>
              <a:t>1. </a:t>
            </a:r>
            <a:r>
              <a:rPr lang="en-US" b="1" u="sng" dirty="0">
                <a:latin typeface="Bahnschrift SemiCondensed" panose="020B0502040204020203" pitchFamily="34" charset="0"/>
              </a:rPr>
              <a:t>Data Acquisition</a:t>
            </a:r>
            <a:r>
              <a:rPr lang="en-US" dirty="0">
                <a:latin typeface="Bahnschrift SemiCondensed" panose="020B0502040204020203" pitchFamily="34" charset="0"/>
              </a:rPr>
              <a:t>: Collect granular energy consumption data from smart meters and individual appliances.</a:t>
            </a:r>
          </a:p>
          <a:p>
            <a:r>
              <a:rPr lang="en-US" dirty="0">
                <a:latin typeface="Bahnschrift SemiCondensed" panose="020B0502040204020203" pitchFamily="34" charset="0"/>
              </a:rPr>
              <a:t>2</a:t>
            </a:r>
            <a:r>
              <a:rPr lang="en-US" b="1" u="sng" dirty="0">
                <a:latin typeface="Bahnschrift SemiCondensed" panose="020B0502040204020203" pitchFamily="34" charset="0"/>
              </a:rPr>
              <a:t>. Data Preprocessing</a:t>
            </a:r>
            <a:r>
              <a:rPr lang="en-US" dirty="0">
                <a:latin typeface="Bahnschrift SemiCondensed" panose="020B0502040204020203" pitchFamily="34" charset="0"/>
              </a:rPr>
              <a:t>: Cleanse the dataset by addressing missing values and outliers, followed by normalization to scale features for model compatibility.</a:t>
            </a:r>
          </a:p>
          <a:p>
            <a:r>
              <a:rPr lang="en-US" dirty="0">
                <a:latin typeface="Bahnschrift SemiCondensed" panose="020B0502040204020203" pitchFamily="34" charset="0"/>
              </a:rPr>
              <a:t>3</a:t>
            </a:r>
            <a:r>
              <a:rPr lang="en-US" b="1" u="sng" dirty="0">
                <a:latin typeface="Bahnschrift SemiCondensed" panose="020B0502040204020203" pitchFamily="34" charset="0"/>
              </a:rPr>
              <a:t>. Feature Engineering</a:t>
            </a:r>
            <a:r>
              <a:rPr lang="en-US" dirty="0">
                <a:latin typeface="Bahnschrift SemiCondensed" panose="020B0502040204020203" pitchFamily="34" charset="0"/>
              </a:rPr>
              <a:t>: Enrich the dataset by integrating external variables such as meteorological data, temporal features (e.g., time of day, day of week), and user activity patterns.</a:t>
            </a:r>
            <a:endParaRPr dirty="0">
              <a:latin typeface="Bahnschrift SemiCondensed" panose="020B0502040204020203" pitchFamily="34" charset="0"/>
            </a:endParaRPr>
          </a:p>
        </p:txBody>
      </p:sp>
      <p:pic>
        <p:nvPicPr>
          <p:cNvPr id="5" name="Graphic 4" descr="Research with solid fill">
            <a:extLst>
              <a:ext uri="{FF2B5EF4-FFF2-40B4-BE49-F238E27FC236}">
                <a16:creationId xmlns:a16="http://schemas.microsoft.com/office/drawing/2014/main" id="{4BFC9F9E-6C80-DFC2-6C4E-76EFB84236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98227" y="111007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4689EC-2AFA-E963-CEED-61F7844D0B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0264" y="800101"/>
            <a:ext cx="6905337" cy="5135032"/>
          </a:xfrm>
        </p:spPr>
        <p:txBody>
          <a:bodyPr/>
          <a:lstStyle/>
          <a:p>
            <a:r>
              <a:rPr lang="en-US" dirty="0">
                <a:latin typeface="Bahnschrift SemiCondensed" panose="020B0502040204020203" pitchFamily="34" charset="0"/>
              </a:rPr>
              <a:t>4. </a:t>
            </a:r>
            <a:r>
              <a:rPr lang="en-US" b="1" u="sng" dirty="0">
                <a:latin typeface="Bahnschrift SemiCondensed" panose="020B0502040204020203" pitchFamily="34" charset="0"/>
              </a:rPr>
              <a:t>Predictive Modeling</a:t>
            </a:r>
            <a:r>
              <a:rPr lang="en-US" dirty="0">
                <a:latin typeface="Bahnschrift SemiCondensed" panose="020B0502040204020203" pitchFamily="34" charset="0"/>
              </a:rPr>
              <a:t>: Train and evaluate machine learning models, such as Random Forest and Long Short-Term Memory (LSTM) networks, to capture consumption patterns and dependencies.</a:t>
            </a:r>
          </a:p>
          <a:p>
            <a:r>
              <a:rPr lang="en-US" dirty="0">
                <a:latin typeface="Bahnschrift SemiCondensed" panose="020B0502040204020203" pitchFamily="34" charset="0"/>
              </a:rPr>
              <a:t>5. </a:t>
            </a:r>
            <a:r>
              <a:rPr lang="en-US" b="1" u="sng" dirty="0">
                <a:latin typeface="Bahnschrift SemiCondensed" panose="020B0502040204020203" pitchFamily="34" charset="0"/>
              </a:rPr>
              <a:t>Forecasting and Optimization</a:t>
            </a:r>
            <a:r>
              <a:rPr lang="en-US" dirty="0">
                <a:latin typeface="Bahnschrift SemiCondensed" panose="020B0502040204020203" pitchFamily="34" charset="0"/>
              </a:rPr>
              <a:t>: Generate daily energy usage predictions and provide actionable recommendations to improve energy efficiency and reduce costs.</a:t>
            </a:r>
          </a:p>
          <a:p>
            <a:r>
              <a:rPr lang="en-US" dirty="0">
                <a:latin typeface="Bahnschrift SemiCondensed" panose="020B0502040204020203" pitchFamily="34" charset="0"/>
              </a:rPr>
              <a:t>6</a:t>
            </a:r>
            <a:r>
              <a:rPr lang="en-US" b="1" u="sng" dirty="0">
                <a:latin typeface="Bahnschrift SemiCondensed" panose="020B0502040204020203" pitchFamily="34" charset="0"/>
              </a:rPr>
              <a:t>. Deployment and Monitoring</a:t>
            </a:r>
            <a:r>
              <a:rPr lang="en-US" dirty="0">
                <a:latin typeface="Bahnschrift SemiCondensed" panose="020B0502040204020203" pitchFamily="34" charset="0"/>
              </a:rPr>
              <a:t>: Deploy the finalized model into a live environment and continuously monitor its performance, retraining as necessary to adapt to new data and consumption patterns</a:t>
            </a:r>
            <a:r>
              <a:rPr lang="en-US" dirty="0"/>
              <a:t>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045071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>
                <a:latin typeface="Bahnschrift" panose="020B0502040204020203" pitchFamily="34" charset="0"/>
              </a:rPr>
              <a:t>Literature Review</a:t>
            </a:r>
            <a:r>
              <a:rPr lang="en-IN" dirty="0">
                <a:latin typeface="Bahnschrift" panose="020B0502040204020203" pitchFamily="34" charset="0"/>
              </a:rPr>
              <a:t> </a:t>
            </a:r>
            <a:endParaRPr dirty="0">
              <a:latin typeface="Bahnschrift" panose="020B0502040204020203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Bahnschrift SemiCondensed" panose="020B0502040204020203" pitchFamily="34" charset="0"/>
              </a:rPr>
              <a:t> Studies show that ensemble models like Random Forest (85% accuracy) consistently outperform simpler baselines such as Linear Regression in energy prediction tasks (Raza et al., 2019).</a:t>
            </a:r>
          </a:p>
          <a:p>
            <a:r>
              <a:rPr lang="en-US" dirty="0">
                <a:latin typeface="Bahnschrift SemiCondensed" panose="020B0502040204020203" pitchFamily="34" charset="0"/>
              </a:rPr>
              <a:t>The application of Deep Learning architectures, particularly Long Short-Term Memory (LSTM) networks, further boosts performance, achieving accuracies between 90-93% by effectively modeling time-series data (Mocanu et al., 2016).</a:t>
            </a:r>
          </a:p>
          <a:p>
            <a:endParaRPr dirty="0">
              <a:latin typeface="Bahnschrift SemiCondensed" panose="020B0502040204020203" pitchFamily="34" charset="0"/>
            </a:endParaRPr>
          </a:p>
        </p:txBody>
      </p:sp>
      <p:pic>
        <p:nvPicPr>
          <p:cNvPr id="5" name="Graphic 4" descr="Books with solid fill">
            <a:extLst>
              <a:ext uri="{FF2B5EF4-FFF2-40B4-BE49-F238E27FC236}">
                <a16:creationId xmlns:a16="http://schemas.microsoft.com/office/drawing/2014/main" id="{50A4EC1B-2BE3-4B6C-8088-AA4D8591C1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712527" y="111007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CB5158-4BD9-3109-D978-F2655E5774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Bahnschrift SemiCondensed" panose="020B0502040204020203" pitchFamily="34" charset="0"/>
              </a:rPr>
              <a:t>Current state-of-the-art approaches utilizing hybrid ensemble models are pushing the accuracy benchmark even higher, with recent studies reporting success rates of up to 95% (2024 Studies).</a:t>
            </a:r>
          </a:p>
          <a:p>
            <a:r>
              <a:rPr lang="en-US" dirty="0">
                <a:latin typeface="Bahnschrift SemiCondensed" panose="020B0502040204020203" pitchFamily="34" charset="0"/>
              </a:rPr>
              <a:t>The accuracy of any predictive model is significantly enhanced by incorporating a rich feature set, with weather conditions, real-time appliance activity, and occupancy patterns being crucial inputs</a:t>
            </a:r>
            <a:endParaRPr lang="en-IN" dirty="0"/>
          </a:p>
        </p:txBody>
      </p:sp>
      <p:pic>
        <p:nvPicPr>
          <p:cNvPr id="4" name="Graphic 3" descr="List with solid fill">
            <a:extLst>
              <a:ext uri="{FF2B5EF4-FFF2-40B4-BE49-F238E27FC236}">
                <a16:creationId xmlns:a16="http://schemas.microsoft.com/office/drawing/2014/main" id="{E928C4A2-E086-888A-6E93-7D110F26CE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78201" y="1072868"/>
            <a:ext cx="975409" cy="914400"/>
          </a:xfrm>
          <a:prstGeom prst="rect">
            <a:avLst/>
          </a:prstGeom>
        </p:spPr>
      </p:pic>
      <p:pic>
        <p:nvPicPr>
          <p:cNvPr id="6" name="Graphic 5" descr="Pencil with solid fill">
            <a:extLst>
              <a:ext uri="{FF2B5EF4-FFF2-40B4-BE49-F238E27FC236}">
                <a16:creationId xmlns:a16="http://schemas.microsoft.com/office/drawing/2014/main" id="{42F47159-E076-14E0-671D-5442DB9D1E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58087" y="1152154"/>
            <a:ext cx="685113" cy="685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99565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29641B-50FF-B4AE-DC5B-7F8285DF8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dirty="0">
                <a:latin typeface="Bahnschrift" panose="020B0502040204020203" pitchFamily="34" charset="0"/>
              </a:rPr>
              <a:t>Energy Consumption Prediction by Using Machine Learning for Smart Building: Case Study in Malaysia</a:t>
            </a:r>
            <a:endParaRPr lang="en-IN" sz="3200" dirty="0">
              <a:latin typeface="Bahnschrift" panose="020B0502040204020203" pitchFamily="34" charset="0"/>
            </a:endParaRPr>
          </a:p>
        </p:txBody>
      </p:sp>
      <p:pic>
        <p:nvPicPr>
          <p:cNvPr id="5" name="Content Placeholder 4" descr="Body builder with solid fill">
            <a:extLst>
              <a:ext uri="{FF2B5EF4-FFF2-40B4-BE49-F238E27FC236}">
                <a16:creationId xmlns:a16="http://schemas.microsoft.com/office/drawing/2014/main" id="{1B89BED1-C506-3B71-B63A-EDB251F9F4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31705" y="1110070"/>
            <a:ext cx="914400" cy="914400"/>
          </a:xfr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EEEDF00-3C3F-D101-2FCC-C9051A9C1006}"/>
              </a:ext>
            </a:extLst>
          </p:cNvPr>
          <p:cNvSpPr txBox="1"/>
          <p:nvPr/>
        </p:nvSpPr>
        <p:spPr>
          <a:xfrm>
            <a:off x="1176866" y="2517058"/>
            <a:ext cx="701203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Bahnschrift SemiCondensed" panose="020B0502040204020203" pitchFamily="34" charset="0"/>
              </a:rPr>
              <a:t> Machine learning models can accurately predict electricity consumption in real smart building scenarios using historical data.</a:t>
            </a:r>
          </a:p>
          <a:p>
            <a:endParaRPr lang="en-US" sz="2000" dirty="0">
              <a:latin typeface="Bahnschrift SemiCondensed" panose="020B0502040204020203" pitchFamily="34" charset="0"/>
            </a:endParaRPr>
          </a:p>
          <a:p>
            <a:r>
              <a:rPr lang="en-US" sz="2000" dirty="0">
                <a:latin typeface="Bahnschrift SemiCondensed" panose="020B0502040204020203" pitchFamily="34" charset="0"/>
              </a:rPr>
              <a:t> Energy usage patterns differ significantly between individual tenants, even within the same commercial building.</a:t>
            </a:r>
          </a:p>
          <a:p>
            <a:endParaRPr lang="en-US" sz="2000" dirty="0">
              <a:latin typeface="Bahnschrift SemiCondensed" panose="020B0502040204020203" pitchFamily="34" charset="0"/>
            </a:endParaRPr>
          </a:p>
          <a:p>
            <a:r>
              <a:rPr lang="en-US" sz="2000" dirty="0">
                <a:latin typeface="Bahnschrift SemiCondensed" panose="020B0502040204020203" pitchFamily="34" charset="0"/>
              </a:rPr>
              <a:t> No single machine learning algorithm consistently outperforms others; </a:t>
            </a:r>
            <a:r>
              <a:rPr lang="en-US" sz="2000" b="1" dirty="0">
                <a:latin typeface="Bahnschrift SemiCondensed" panose="020B0502040204020203" pitchFamily="34" charset="0"/>
              </a:rPr>
              <a:t>model effectiveness depends on tenant behavior and load characteristics</a:t>
            </a:r>
            <a:r>
              <a:rPr lang="en-US" sz="2000" dirty="0">
                <a:latin typeface="Bahnschrift SemiCondensed" panose="020B0502040204020203" pitchFamily="34" charset="0"/>
              </a:rPr>
              <a:t>.</a:t>
            </a:r>
          </a:p>
          <a:p>
            <a:endParaRPr lang="en-US" sz="2000" dirty="0">
              <a:latin typeface="Bahnschrift SemiCondensed" panose="020B0502040204020203" pitchFamily="34" charset="0"/>
            </a:endParaRPr>
          </a:p>
          <a:p>
            <a:r>
              <a:rPr lang="en-US" sz="2000" dirty="0">
                <a:latin typeface="Bahnschrift SemiCondensed" panose="020B0502040204020203" pitchFamily="34" charset="0"/>
              </a:rPr>
              <a:t> Proper data preprocessing (cleaning and normalization) plays a crucial role in improving prediction performance.</a:t>
            </a:r>
          </a:p>
          <a:p>
            <a:endParaRPr lang="en-US" sz="2400" dirty="0">
              <a:latin typeface="Bahnschrift SemiCondensed" panose="020B0502040204020203" pitchFamily="34" charset="0"/>
            </a:endParaRPr>
          </a:p>
          <a:p>
            <a:endParaRPr lang="en-IN" sz="2400" dirty="0">
              <a:latin typeface="Bahnschrift Semi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23699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E42765-0495-801B-C188-C82E08A364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latin typeface="Bahnschrift SemiCondensed" panose="020B0502040204020203" pitchFamily="34" charset="0"/>
              </a:rPr>
              <a:t>Cloud-based tools such as Microsoft Azure Machine Learning Studio are suitable for implementing scalable energy prediction systems</a:t>
            </a:r>
          </a:p>
          <a:p>
            <a:r>
              <a:rPr lang="en-US" sz="2000" dirty="0">
                <a:latin typeface="Bahnschrift SemiCondensed" panose="020B0502040204020203" pitchFamily="34" charset="0"/>
              </a:rPr>
              <a:t>Evaluation metrics like RMSE, NRMSE, and MAPE provide reliable measures for assessing prediction accuracy.</a:t>
            </a:r>
          </a:p>
          <a:p>
            <a:r>
              <a:rPr lang="en-US" sz="2000" dirty="0">
                <a:latin typeface="Bahnschrift SemiCondensed" panose="020B0502040204020203" pitchFamily="34" charset="0"/>
              </a:rPr>
              <a:t>Accurate energy forecasting supports energy efficiency and informed decision-making in smart building management.</a:t>
            </a:r>
            <a:endParaRPr lang="en-IN" sz="2000" dirty="0">
              <a:latin typeface="Bahnschrift Semi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26074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7EB47-B371-8844-4D90-AC0AF05E1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it-IT" b="1" dirty="0"/>
              <a:t>Non-Intrusive Load Monitoring (NILM)</a:t>
            </a:r>
            <a:br>
              <a:rPr lang="it-IT" b="1" dirty="0"/>
            </a:br>
            <a:r>
              <a:rPr lang="it-IT" i="1" dirty="0"/>
              <a:t>(</a:t>
            </a:r>
            <a:r>
              <a:rPr lang="it-IT" i="1" dirty="0">
                <a:latin typeface="Bahnschrift" panose="020B0502040204020203" pitchFamily="34" charset="0"/>
              </a:rPr>
              <a:t>Parson</a:t>
            </a:r>
            <a:r>
              <a:rPr lang="it-IT" i="1" dirty="0"/>
              <a:t> </a:t>
            </a:r>
            <a:r>
              <a:rPr lang="it-IT" i="1" dirty="0">
                <a:latin typeface="Bahnschrift" panose="020B0502040204020203" pitchFamily="34" charset="0"/>
              </a:rPr>
              <a:t>et al., IEEE, 2012</a:t>
            </a:r>
            <a:r>
              <a:rPr lang="it-IT" i="1" dirty="0"/>
              <a:t>)</a:t>
            </a:r>
            <a:br>
              <a:rPr lang="it-IT" dirty="0"/>
            </a:br>
            <a:endParaRPr lang="en-IN" dirty="0">
              <a:latin typeface="Bahnschrift" panose="020B0502040204020203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05D63FF5-CEF7-4E4D-35D1-E5E73E2F624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67711" y="1962482"/>
            <a:ext cx="7568097" cy="43704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 SemiCondensed" panose="020B0502040204020203" pitchFamily="34" charset="0"/>
              </a:rPr>
              <a:t>NILM enables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 SemiCondensed" panose="020B0502040204020203" pitchFamily="34" charset="0"/>
              </a:rPr>
              <a:t>appliance-level energy analysis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 SemiCondensed" panose="020B0502040204020203" pitchFamily="34" charset="0"/>
              </a:rPr>
              <a:t> using a single smart meter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US" sz="2000" dirty="0">
                <a:solidFill>
                  <a:schemeClr val="tx1"/>
                </a:solidFill>
                <a:latin typeface="Bahnschrift SemiCondensed" panose="020B0502040204020203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 SemiCondensed" panose="020B0502040204020203" pitchFamily="34" charset="0"/>
              </a:rPr>
              <a:t>(no sensors required on each device)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ahnschrift SemiCondensed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 SemiCondensed" panose="020B0502040204020203" pitchFamily="34" charset="0"/>
              </a:rPr>
              <a:t>Uses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 SemiCondensed" panose="020B0502040204020203" pitchFamily="34" charset="0"/>
              </a:rPr>
              <a:t>machine learning and signal patterns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 SemiCondensed" panose="020B0502040204020203" pitchFamily="34" charset="0"/>
              </a:rPr>
              <a:t> to identify individual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US" sz="2000" dirty="0">
                <a:solidFill>
                  <a:schemeClr val="tx1"/>
                </a:solidFill>
                <a:latin typeface="Bahnschrift SemiCondensed" panose="020B0502040204020203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 SemiCondensed" panose="020B0502040204020203" pitchFamily="34" charset="0"/>
              </a:rPr>
              <a:t>appliances from total power consumption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 SemiCondensed" panose="020B0502040204020203" pitchFamily="34" charset="0"/>
              </a:rPr>
              <a:t>Key finding: A few high-power appliances (AC, heater)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US" sz="2000" dirty="0">
                <a:solidFill>
                  <a:schemeClr val="tx1"/>
                </a:solidFill>
                <a:latin typeface="Bahnschrift SemiCondensed" panose="020B0502040204020203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 SemiCondensed" panose="020B0502040204020203" pitchFamily="34" charset="0"/>
              </a:rPr>
              <a:t>contribute most of the energy usage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ahnschrift SemiCondensed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 SemiCondensed" panose="020B0502040204020203" pitchFamily="34" charset="0"/>
              </a:rPr>
              <a:t>Provides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 SemiCondensed" panose="020B0502040204020203" pitchFamily="34" charset="0"/>
              </a:rPr>
              <a:t>actionable insights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 SemiCondensed" panose="020B0502040204020203" pitchFamily="34" charset="0"/>
              </a:rPr>
              <a:t> (where energy is used),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US" sz="2000" dirty="0">
                <a:solidFill>
                  <a:schemeClr val="tx1"/>
                </a:solidFill>
                <a:latin typeface="Bahnschrift SemiCondensed" panose="020B0502040204020203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 SemiCondensed" panose="020B0502040204020203" pitchFamily="34" charset="0"/>
              </a:rPr>
              <a:t>unlike traditional models that only predict total consumption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ahnschrift SemiCondensed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 SemiCondensed" panose="020B0502040204020203" pitchFamily="34" charset="0"/>
              </a:rPr>
              <a:t>Limitation: Difficulty in distinguishing similar appliances and requires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US" sz="2000" dirty="0">
                <a:solidFill>
                  <a:schemeClr val="tx1"/>
                </a:solidFill>
                <a:latin typeface="Bahnschrift SemiCondensed" panose="020B0502040204020203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 SemiCondensed" panose="020B0502040204020203" pitchFamily="34" charset="0"/>
              </a:rPr>
              <a:t>high-quality data </a:t>
            </a:r>
          </a:p>
        </p:txBody>
      </p:sp>
    </p:spTree>
    <p:extLst>
      <p:ext uri="{BB962C8B-B14F-4D97-AF65-F5344CB8AC3E}">
        <p14:creationId xmlns:p14="http://schemas.microsoft.com/office/powerpoint/2010/main" val="30134764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Bahnschrift" panose="020B0502040204020203" pitchFamily="34" charset="0"/>
              </a:rP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dirty="0">
                <a:latin typeface="Bahnschrift SemiCondensed" panose="020B0502040204020203" pitchFamily="34" charset="0"/>
              </a:rPr>
              <a:t>1. Raza M.Q. &amp; Khosravi A. (2019). AI-based Load Forecasting, Energy Reports.</a:t>
            </a:r>
          </a:p>
          <a:p>
            <a:r>
              <a:rPr dirty="0">
                <a:latin typeface="Bahnschrift SemiCondensed" panose="020B0502040204020203" pitchFamily="34" charset="0"/>
              </a:rPr>
              <a:t>2. Mocanu E. et al. (2016). Deep Learning for Household Prediction, IEEE.</a:t>
            </a:r>
          </a:p>
          <a:p>
            <a:r>
              <a:rPr dirty="0">
                <a:latin typeface="Bahnschrift SemiCondensed" panose="020B0502040204020203" pitchFamily="34" charset="0"/>
              </a:rPr>
              <a:t>3. UCI Household Power Consumption Dataset.</a:t>
            </a:r>
          </a:p>
          <a:p>
            <a:r>
              <a:rPr dirty="0">
                <a:latin typeface="Bahnschrift SemiCondensed" panose="020B0502040204020203" pitchFamily="34" charset="0"/>
              </a:rPr>
              <a:t>4. Prayas Energy Group – Indian household data.</a:t>
            </a:r>
          </a:p>
          <a:p>
            <a:r>
              <a:rPr dirty="0">
                <a:latin typeface="Bahnschrift SemiCondensed" panose="020B0502040204020203" pitchFamily="34" charset="0"/>
              </a:rPr>
              <a:t>5. ScienceDirect – Hybrid Models for Energy Prediction (2024).</a:t>
            </a:r>
          </a:p>
        </p:txBody>
      </p:sp>
      <p:pic>
        <p:nvPicPr>
          <p:cNvPr id="5" name="Graphic 4" descr="Computer with solid fill">
            <a:extLst>
              <a:ext uri="{FF2B5EF4-FFF2-40B4-BE49-F238E27FC236}">
                <a16:creationId xmlns:a16="http://schemas.microsoft.com/office/drawing/2014/main" id="{565FAD4A-73A4-1524-1639-29BE4D88D2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85164" y="111007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Bahnschrift" panose="020B0502040204020203" pitchFamily="34" charset="0"/>
              </a:rPr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Questions?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B15E28"/>
      </a:accent1>
      <a:accent2>
        <a:srgbClr val="B13228"/>
      </a:accent2>
      <a:accent3>
        <a:srgbClr val="8B7B56"/>
      </a:accent3>
      <a:accent4>
        <a:srgbClr val="E09C41"/>
      </a:accent4>
      <a:accent5>
        <a:srgbClr val="9EAE51"/>
      </a:accent5>
      <a:accent6>
        <a:srgbClr val="6E7355"/>
      </a:accent6>
      <a:hlink>
        <a:srgbClr val="D37A21"/>
      </a:hlink>
      <a:folHlink>
        <a:srgbClr val="CA8F55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039A4B3-0617-4CFC-B614-27363ECC28A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442</TotalTime>
  <Words>825</Words>
  <Application>Microsoft Office PowerPoint</Application>
  <PresentationFormat>On-screen Show (4:3)</PresentationFormat>
  <Paragraphs>69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Bahnschrift</vt:lpstr>
      <vt:lpstr>Bahnschrift SemiCondensed</vt:lpstr>
      <vt:lpstr>Bahnschrift SemiLight</vt:lpstr>
      <vt:lpstr>Garamond</vt:lpstr>
      <vt:lpstr>Organic</vt:lpstr>
      <vt:lpstr>Energy Consumption Prediction in Households using Machine Learning</vt:lpstr>
      <vt:lpstr>Outline</vt:lpstr>
      <vt:lpstr>Introduction                   </vt:lpstr>
      <vt:lpstr>Real Data Example: UCI Household Power Consumption</vt:lpstr>
      <vt:lpstr>Problem Statement</vt:lpstr>
      <vt:lpstr>Proposed Solution</vt:lpstr>
      <vt:lpstr>PowerPoint Presentation</vt:lpstr>
      <vt:lpstr>Literature Review </vt:lpstr>
      <vt:lpstr>PowerPoint Presentation</vt:lpstr>
      <vt:lpstr>Energy Consumption Prediction by Using Machine Learning for Smart Building: Case Study in Malaysia</vt:lpstr>
      <vt:lpstr>PowerPoint Presentation</vt:lpstr>
      <vt:lpstr>Non-Intrusive Load Monitoring (NILM) (Parson et al., IEEE, 2012) </vt:lpstr>
      <vt:lpstr>References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Chandeshwar Kumar Singh</dc:creator>
  <cp:keywords/>
  <dc:description>generated using python-pptx</dc:description>
  <cp:lastModifiedBy>Chandeshwar Kumar Singh</cp:lastModifiedBy>
  <cp:revision>7</cp:revision>
  <dcterms:created xsi:type="dcterms:W3CDTF">2013-01-27T09:14:16Z</dcterms:created>
  <dcterms:modified xsi:type="dcterms:W3CDTF">2026-04-12T09:08:14Z</dcterms:modified>
  <cp:category/>
</cp:coreProperties>
</file>