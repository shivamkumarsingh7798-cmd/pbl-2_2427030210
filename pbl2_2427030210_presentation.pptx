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6" r:id="rId10"/>
    <p:sldId id="263" r:id="rId11"/>
    <p:sldId id="269" r:id="rId12"/>
    <p:sldId id="270" r:id="rId13"/>
    <p:sldId id="271" r:id="rId14"/>
    <p:sldId id="272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5DC6C-614B-4A8E-9617-8C6EB8180231}" v="15" dt="2025-10-12T20:31:49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3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8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6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66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4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33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6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55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0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1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246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45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34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77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744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048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8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0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Bahnschrift" panose="020B0502040204020203" pitchFamily="34" charset="0"/>
                <a:ea typeface="Artifakt Element Heavy" panose="020B0B03050000020004" pitchFamily="34" charset="0"/>
              </a:rPr>
              <a:t>Energy Consumption Prediction in Households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Submitted By: </a:t>
            </a:r>
            <a:r>
              <a:rPr lang="en-IN" dirty="0">
                <a:latin typeface="Bahnschrift SemiCondensed" panose="020B0502040204020203" pitchFamily="34" charset="0"/>
              </a:rPr>
              <a:t>Shivam Kumar</a:t>
            </a:r>
            <a:endParaRPr dirty="0">
              <a:latin typeface="Bahnschrift SemiCondensed" panose="020B0502040204020203" pitchFamily="34" charset="0"/>
            </a:endParaRPr>
          </a:p>
          <a:p>
            <a:r>
              <a:rPr dirty="0">
                <a:latin typeface="Bahnschrift SemiCondensed" panose="020B0502040204020203" pitchFamily="34" charset="0"/>
              </a:rPr>
              <a:t>Registration No: </a:t>
            </a:r>
            <a:r>
              <a:rPr lang="en-IN" dirty="0">
                <a:latin typeface="Bahnschrift SemiCondensed" panose="020B0502040204020203" pitchFamily="34" charset="0"/>
              </a:rPr>
              <a:t>2427030210</a:t>
            </a:r>
            <a:endParaRPr dirty="0">
              <a:latin typeface="Bahnschrift SemiCondensed" panose="020B0502040204020203" pitchFamily="34" charset="0"/>
            </a:endParaRPr>
          </a:p>
          <a:p>
            <a:r>
              <a:rPr dirty="0">
                <a:latin typeface="Bahnschrift SemiCondensed" panose="020B0502040204020203" pitchFamily="34" charset="0"/>
              </a:rPr>
              <a:t>Supervised By: </a:t>
            </a:r>
            <a:r>
              <a:rPr lang="en-IN" dirty="0">
                <a:latin typeface="Bahnschrift SemiCondensed" panose="020B0502040204020203" pitchFamily="34" charset="0"/>
              </a:rPr>
              <a:t>Dr Surbhi Sharma</a:t>
            </a:r>
          </a:p>
          <a:p>
            <a:r>
              <a:rPr dirty="0">
                <a:latin typeface="Bahnschrift SemiCondensed" panose="020B0502040204020203" pitchFamily="34" charset="0"/>
              </a:rPr>
              <a:t>School of Computer Science and Engineering</a:t>
            </a:r>
          </a:p>
          <a:p>
            <a:r>
              <a:rPr dirty="0">
                <a:latin typeface="Bahnschrift SemiCondensed" panose="020B0502040204020203" pitchFamily="34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Bahnschrift SemiCondensed" panose="020B0502040204020203" pitchFamily="34" charset="0"/>
              </a:rPr>
              <a:t>• Introduction</a:t>
            </a:r>
          </a:p>
          <a:p>
            <a:r>
              <a:rPr dirty="0">
                <a:latin typeface="Bahnschrift SemiCondensed" panose="020B0502040204020203" pitchFamily="34" charset="0"/>
              </a:rPr>
              <a:t>• Literature Review</a:t>
            </a:r>
          </a:p>
          <a:p>
            <a:r>
              <a:rPr dirty="0">
                <a:latin typeface="Bahnschrift SemiCondensed" panose="020B0502040204020203" pitchFamily="34" charset="0"/>
              </a:rPr>
              <a:t>• Problem Statement</a:t>
            </a:r>
          </a:p>
          <a:p>
            <a:r>
              <a:rPr dirty="0">
                <a:latin typeface="Bahnschrift SemiCondensed" panose="020B0502040204020203" pitchFamily="34" charset="0"/>
              </a:rPr>
              <a:t>• Proposed Solution</a:t>
            </a:r>
          </a:p>
          <a:p>
            <a:r>
              <a:rPr lang="en-IN" dirty="0">
                <a:latin typeface="Bahnschrift SemiCondensed" panose="020B0502040204020203" pitchFamily="34" charset="0"/>
              </a:rPr>
              <a:t>• </a:t>
            </a:r>
            <a:r>
              <a:rPr dirty="0">
                <a:latin typeface="Bahnschrift SemiCondensed" panose="020B0502040204020203" pitchFamily="34" charset="0"/>
              </a:rPr>
              <a:t>Objectives</a:t>
            </a:r>
            <a:endParaRPr lang="en-IN" dirty="0">
              <a:latin typeface="Bahnschrift SemiCondensed" panose="020B0502040204020203" pitchFamily="34" charset="0"/>
            </a:endParaRPr>
          </a:p>
          <a:p>
            <a:r>
              <a:rPr lang="en-IN" dirty="0">
                <a:latin typeface="Bahnschrift SemiCondensed" panose="020B0502040204020203" pitchFamily="34" charset="0"/>
              </a:rPr>
              <a:t>• Future Research Potential</a:t>
            </a:r>
            <a:endParaRPr dirty="0">
              <a:latin typeface="Bahnschrift SemiCondensed" panose="020B0502040204020203" pitchFamily="34" charset="0"/>
            </a:endParaRPr>
          </a:p>
          <a:p>
            <a:r>
              <a:rPr dirty="0">
                <a:latin typeface="Bahnschrift SemiCondensed" panose="020B0502040204020203" pitchFamily="34" charset="0"/>
              </a:rP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Introduction</a:t>
            </a:r>
            <a:r>
              <a:rPr lang="en-IN" dirty="0">
                <a:latin typeface="Bahnschrift" panose="020B0502040204020203" pitchFamily="34" charset="0"/>
              </a:rPr>
              <a:t>                   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400301"/>
            <a:ext cx="6798736" cy="361796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Bahnschrift SemiCondensed" panose="020B0502040204020203" pitchFamily="34" charset="0"/>
              </a:rPr>
              <a:t>Residential energy consumption represents a significant portion of the overall electricity grid load, highlighting a key area for optimization.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Without effective monitoring, households are prone to inefficient energy use, leading to preventable waste and higher utility expenses.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Machine Learning models can accurately predict energy consumption on a daily or hourly basis by analyzing patterns in appliance usage, historical data, and environmental factors.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Objective: To engineer a predictive system capable of forecasting daily household energy consumption, empowering users to optimize usage and reduce costs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7" name="Graphic 6" descr="Rocket with solid fill">
            <a:extLst>
              <a:ext uri="{FF2B5EF4-FFF2-40B4-BE49-F238E27FC236}">
                <a16:creationId xmlns:a16="http://schemas.microsoft.com/office/drawing/2014/main" id="{8404AF81-15C1-A29E-9E87-D804AD981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3209" y="1265933"/>
            <a:ext cx="708339" cy="708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Bahnschrift" panose="020B0502040204020203" pitchFamily="34" charset="0"/>
                <a:cs typeface="Arial" panose="020B0604020202020204" pitchFamily="34" charset="0"/>
              </a:rPr>
              <a:t>Real Data Example: UCI Household Power Consumption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ED188-ACF4-68A2-7DF0-455B492C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71" y="2395684"/>
            <a:ext cx="7674458" cy="3793050"/>
          </a:xfrm>
          <a:prstGeom prst="rect">
            <a:avLst/>
          </a:prstGeom>
        </p:spPr>
      </p:pic>
      <p:pic>
        <p:nvPicPr>
          <p:cNvPr id="4" name="Graphic 3" descr="Bar chart with solid fill">
            <a:extLst>
              <a:ext uri="{FF2B5EF4-FFF2-40B4-BE49-F238E27FC236}">
                <a16:creationId xmlns:a16="http://schemas.microsoft.com/office/drawing/2014/main" id="{DB6A2E03-DF0F-3677-83CA-3B9BB6288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1909" y="82088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Bahnschrift" panose="020B0502040204020203" pitchFamily="34" charset="0"/>
              </a:rPr>
              <a:t>Literature Review</a:t>
            </a:r>
            <a:r>
              <a:rPr lang="en-IN" dirty="0">
                <a:latin typeface="Bahnschrift" panose="020B0502040204020203" pitchFamily="34" charset="0"/>
              </a:rPr>
              <a:t> 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hnschrift SemiCondensed" panose="020B0502040204020203" pitchFamily="34" charset="0"/>
              </a:rPr>
              <a:t> Studies show that ensemble models like Random Forest (85% accuracy) consistently outperform simpler baselines such as Linear Regression in energy prediction tasks (Raza et al., 2019).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The application of Deep Learning architectures, particularly Long Short-Term Memory (LSTM) networks, further boosts performance, achieving accuracies between 90-93% by effectively modeling time-series data (Mocanu et al., 2016).</a:t>
            </a:r>
          </a:p>
          <a:p>
            <a:endParaRPr dirty="0">
              <a:latin typeface="Bahnschrift SemiCondensed" panose="020B0502040204020203" pitchFamily="34" charset="0"/>
            </a:endParaRPr>
          </a:p>
        </p:txBody>
      </p:sp>
      <p:pic>
        <p:nvPicPr>
          <p:cNvPr id="5" name="Graphic 4" descr="Books with solid fill">
            <a:extLst>
              <a:ext uri="{FF2B5EF4-FFF2-40B4-BE49-F238E27FC236}">
                <a16:creationId xmlns:a16="http://schemas.microsoft.com/office/drawing/2014/main" id="{50A4EC1B-2BE3-4B6C-8088-AA4D8591C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2527" y="111007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B5158-4BD9-3109-D978-F2655E577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Current state-of-the-art approaches utilizing hybrid ensemble models are pushing the accuracy benchmark even higher, with recent studies reporting success rates of up to 95% (2024 Studies).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The accuracy of any predictive model is significantly enhanced by incorporating a rich feature set, with weather conditions, real-time appliance activity, and occupancy patterns being crucial inputs</a:t>
            </a:r>
            <a:endParaRPr lang="en-IN" dirty="0"/>
          </a:p>
        </p:txBody>
      </p:sp>
      <p:pic>
        <p:nvPicPr>
          <p:cNvPr id="4" name="Graphic 3" descr="List with solid fill">
            <a:extLst>
              <a:ext uri="{FF2B5EF4-FFF2-40B4-BE49-F238E27FC236}">
                <a16:creationId xmlns:a16="http://schemas.microsoft.com/office/drawing/2014/main" id="{E928C4A2-E086-888A-6E93-7D110F26C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8201" y="1072868"/>
            <a:ext cx="975409" cy="914400"/>
          </a:xfrm>
          <a:prstGeom prst="rect">
            <a:avLst/>
          </a:prstGeom>
        </p:spPr>
      </p:pic>
      <p:pic>
        <p:nvPicPr>
          <p:cNvPr id="6" name="Graphic 5" descr="Pencil with solid fill">
            <a:extLst>
              <a:ext uri="{FF2B5EF4-FFF2-40B4-BE49-F238E27FC236}">
                <a16:creationId xmlns:a16="http://schemas.microsoft.com/office/drawing/2014/main" id="{42F47159-E076-14E0-671D-5442DB9D1E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8087" y="1152154"/>
            <a:ext cx="685113" cy="68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5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Inefficient energy consumption in residential settings, often due to a lack of real-time oversight, results in substantial energy waste and elevated financial burdens on households.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Implementing a predictive system to forecast daily consumption based on user activity is essential for empowering homeowners to optimize their energy usage and reduce costs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  <a:endParaRPr dirty="0">
              <a:latin typeface="Bahnschrift SemiLight" panose="020B0502040204020203" pitchFamily="34" charset="0"/>
            </a:endParaRPr>
          </a:p>
        </p:txBody>
      </p:sp>
      <p:pic>
        <p:nvPicPr>
          <p:cNvPr id="9" name="Graphic 8" descr="Help with solid fill">
            <a:extLst>
              <a:ext uri="{FF2B5EF4-FFF2-40B4-BE49-F238E27FC236}">
                <a16:creationId xmlns:a16="http://schemas.microsoft.com/office/drawing/2014/main" id="{DCCAD396-CE40-7047-6990-928F39064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6827" y="1193197"/>
            <a:ext cx="789709" cy="789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Bahnschrift SemiCondensed" panose="020B0502040204020203" pitchFamily="34" charset="0"/>
              </a:rPr>
              <a:t>1. </a:t>
            </a:r>
            <a:r>
              <a:rPr lang="en-US" b="1" u="sng" dirty="0">
                <a:latin typeface="Bahnschrift SemiCondensed" panose="020B0502040204020203" pitchFamily="34" charset="0"/>
              </a:rPr>
              <a:t>Data Acquisition</a:t>
            </a:r>
            <a:r>
              <a:rPr lang="en-US" dirty="0">
                <a:latin typeface="Bahnschrift SemiCondensed" panose="020B0502040204020203" pitchFamily="34" charset="0"/>
              </a:rPr>
              <a:t>: Collect granular energy consumption data from smart meters and individual appliances.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2</a:t>
            </a:r>
            <a:r>
              <a:rPr lang="en-US" b="1" u="sng" dirty="0">
                <a:latin typeface="Bahnschrift SemiCondensed" panose="020B0502040204020203" pitchFamily="34" charset="0"/>
              </a:rPr>
              <a:t>. Data Preprocessing</a:t>
            </a:r>
            <a:r>
              <a:rPr lang="en-US" dirty="0">
                <a:latin typeface="Bahnschrift SemiCondensed" panose="020B0502040204020203" pitchFamily="34" charset="0"/>
              </a:rPr>
              <a:t>: Cleanse the dataset by addressing missing values and outliers, followed by normalization to scale features for model compatibility.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3</a:t>
            </a:r>
            <a:r>
              <a:rPr lang="en-US" b="1" u="sng" dirty="0">
                <a:latin typeface="Bahnschrift SemiCondensed" panose="020B0502040204020203" pitchFamily="34" charset="0"/>
              </a:rPr>
              <a:t>. Feature Engineering</a:t>
            </a:r>
            <a:r>
              <a:rPr lang="en-US" dirty="0">
                <a:latin typeface="Bahnschrift SemiCondensed" panose="020B0502040204020203" pitchFamily="34" charset="0"/>
              </a:rPr>
              <a:t>: Enrich the dataset by integrating external variables such as meteorological data, temporal features (e.g., time of day, day of week), and user activity patterns.</a:t>
            </a:r>
            <a:endParaRPr dirty="0">
              <a:latin typeface="Bahnschrift SemiCondensed" panose="020B0502040204020203" pitchFamily="34" charset="0"/>
            </a:endParaRPr>
          </a:p>
        </p:txBody>
      </p:sp>
      <p:pic>
        <p:nvPicPr>
          <p:cNvPr id="5" name="Graphic 4" descr="Research with solid fill">
            <a:extLst>
              <a:ext uri="{FF2B5EF4-FFF2-40B4-BE49-F238E27FC236}">
                <a16:creationId xmlns:a16="http://schemas.microsoft.com/office/drawing/2014/main" id="{4BFC9F9E-6C80-DFC2-6C4E-76EFB8423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227" y="111007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89EC-2AFA-E963-CEED-61F7844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264" y="800101"/>
            <a:ext cx="6905337" cy="5135032"/>
          </a:xfrm>
        </p:spPr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4. </a:t>
            </a:r>
            <a:r>
              <a:rPr lang="en-US" b="1" u="sng" dirty="0">
                <a:latin typeface="Bahnschrift SemiCondensed" panose="020B0502040204020203" pitchFamily="34" charset="0"/>
              </a:rPr>
              <a:t>Predictive Modeling</a:t>
            </a:r>
            <a:r>
              <a:rPr lang="en-US" dirty="0">
                <a:latin typeface="Bahnschrift SemiCondensed" panose="020B0502040204020203" pitchFamily="34" charset="0"/>
              </a:rPr>
              <a:t>: Train and evaluate machine learning models, such as Random Forest and Long Short-Term Memory (LSTM) networks, to capture consumption patterns and dependencies.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5. </a:t>
            </a:r>
            <a:r>
              <a:rPr lang="en-US" b="1" u="sng" dirty="0">
                <a:latin typeface="Bahnschrift SemiCondensed" panose="020B0502040204020203" pitchFamily="34" charset="0"/>
              </a:rPr>
              <a:t>Forecasting and Optimization</a:t>
            </a:r>
            <a:r>
              <a:rPr lang="en-US" dirty="0">
                <a:latin typeface="Bahnschrift SemiCondensed" panose="020B0502040204020203" pitchFamily="34" charset="0"/>
              </a:rPr>
              <a:t>: Generate daily energy usage predictions and provide actionable recommendations to improve energy efficiency and reduce costs.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6</a:t>
            </a:r>
            <a:r>
              <a:rPr lang="en-US" b="1" u="sng" dirty="0">
                <a:latin typeface="Bahnschrift SemiCondensed" panose="020B0502040204020203" pitchFamily="34" charset="0"/>
              </a:rPr>
              <a:t>. Deployment and Monitoring</a:t>
            </a:r>
            <a:r>
              <a:rPr lang="en-US" dirty="0">
                <a:latin typeface="Bahnschrift SemiCondensed" panose="020B0502040204020203" pitchFamily="34" charset="0"/>
              </a:rPr>
              <a:t>: Deploy the finalized model into a live environment and continuously monitor its performance, retraining as necessary to adapt to new data and consumption patterns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507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>
                <a:latin typeface="Bahnschrift SemiCondensed" panose="020B0502040204020203" pitchFamily="34" charset="0"/>
              </a:rPr>
              <a:t>To analyze household energy usage patterns using ML.</a:t>
            </a:r>
          </a:p>
          <a:p>
            <a:r>
              <a:rPr dirty="0">
                <a:latin typeface="Bahnschrift SemiCondensed" panose="020B0502040204020203" pitchFamily="34" charset="0"/>
              </a:rPr>
              <a:t> To predict daily electricity consumption accurately.</a:t>
            </a:r>
          </a:p>
          <a:p>
            <a:r>
              <a:rPr lang="en-IN" dirty="0">
                <a:latin typeface="Bahnschrift SemiCondensed" panose="020B0502040204020203" pitchFamily="34" charset="0"/>
              </a:rPr>
              <a:t> </a:t>
            </a:r>
            <a:r>
              <a:rPr dirty="0">
                <a:latin typeface="Bahnschrift SemiCondensed" panose="020B0502040204020203" pitchFamily="34" charset="0"/>
              </a:rPr>
              <a:t>To help reduce bills via usage insights.</a:t>
            </a:r>
          </a:p>
          <a:p>
            <a:r>
              <a:rPr dirty="0">
                <a:latin typeface="Bahnschrift SemiCondensed" panose="020B0502040204020203" pitchFamily="34" charset="0"/>
              </a:rPr>
              <a:t> To build a real-time monitoring system</a:t>
            </a:r>
            <a:r>
              <a:rPr dirty="0"/>
              <a:t>.</a:t>
            </a:r>
          </a:p>
        </p:txBody>
      </p:sp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376408DB-966D-81D7-BF55-6B12FCF72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7346" y="1237648"/>
            <a:ext cx="758536" cy="7585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1F05-9A87-4AE2-4E3F-FE1F087A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hnschrift" panose="020B0502040204020203" pitchFamily="34" charset="0"/>
              </a:rPr>
              <a:t>Future Research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8B65-366E-E757-6F86-0388ABEFB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>
                <a:latin typeface="Bahnschrift SemiCondensed" panose="020B0502040204020203" pitchFamily="34" charset="0"/>
              </a:rPr>
              <a:t>Integration of IoT and Smart Home Devices</a:t>
            </a:r>
            <a:r>
              <a:rPr lang="en-US" dirty="0">
                <a:latin typeface="Bahnschrift SemiCondensed" panose="020B0502040204020203" pitchFamily="34" charset="0"/>
              </a:rPr>
              <a:t> Future work could explore integrating IoT sensors to provide real-time energy data from appliances. Combining ML with IoT allows dynamic prediction and instant feedback, helping households act on predictions instantly. Reinforcement</a:t>
            </a:r>
          </a:p>
          <a:p>
            <a:r>
              <a:rPr lang="en-US" dirty="0">
                <a:latin typeface="Bahnschrift SemiCondensed" panose="020B0502040204020203" pitchFamily="34" charset="0"/>
              </a:rPr>
              <a:t> </a:t>
            </a:r>
            <a:r>
              <a:rPr lang="en-US" b="1" u="sng" dirty="0">
                <a:latin typeface="Bahnschrift SemiCondensed" panose="020B0502040204020203" pitchFamily="34" charset="0"/>
              </a:rPr>
              <a:t>Learning for Energy Optimization</a:t>
            </a:r>
            <a:r>
              <a:rPr lang="en-US" dirty="0">
                <a:latin typeface="Bahnschrift SemiCondensed" panose="020B0502040204020203" pitchFamily="34" charset="0"/>
              </a:rPr>
              <a:t> Instead of just predicting, models could learn to control appliances automatically to minimize waste — for example, turning off devices when energy demand peaks. Reinforcement learning agents can continuously improve decisions based on user comfort and cost trade-offs.</a:t>
            </a:r>
            <a:endParaRPr lang="en-IN" dirty="0">
              <a:latin typeface="Bahnschrift SemiCondensed" panose="020B0502040204020203" pitchFamily="34" charset="0"/>
            </a:endParaRPr>
          </a:p>
        </p:txBody>
      </p:sp>
      <p:pic>
        <p:nvPicPr>
          <p:cNvPr id="5" name="Graphic 4" descr="Flask with solid fill">
            <a:extLst>
              <a:ext uri="{FF2B5EF4-FFF2-40B4-BE49-F238E27FC236}">
                <a16:creationId xmlns:a16="http://schemas.microsoft.com/office/drawing/2014/main" id="{33182861-824A-92FC-FD88-64637EE7A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199" y="1039090"/>
            <a:ext cx="914400" cy="7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8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4862-9C96-F536-326D-14444F65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>
                <a:latin typeface="Bahnschrift SemiCondensed" panose="020B0502040204020203" pitchFamily="34" charset="0"/>
              </a:rPr>
              <a:t>Transfer Learning Across Regions </a:t>
            </a:r>
            <a:r>
              <a:rPr lang="en-US" dirty="0">
                <a:latin typeface="Bahnschrift SemiCondensed" panose="020B0502040204020203" pitchFamily="34" charset="0"/>
              </a:rPr>
              <a:t>Develop models that can adapt to new geographical locations or households with little data, improving scalability and global usability. Helps apply your system beyond a single dataset or country (e.g., India → global deployment).</a:t>
            </a:r>
          </a:p>
          <a:p>
            <a:r>
              <a:rPr lang="en-US" b="1" u="sng" dirty="0">
                <a:latin typeface="Bahnschrift SemiCondensed" panose="020B0502040204020203" pitchFamily="34" charset="0"/>
              </a:rPr>
              <a:t>Carbon Footprint Prediction and Sustainability </a:t>
            </a:r>
            <a:r>
              <a:rPr lang="en-US" dirty="0">
                <a:latin typeface="Bahnschrift SemiCondensed" panose="020B0502040204020203" pitchFamily="34" charset="0"/>
              </a:rPr>
              <a:t>Integration Extend your model to predict environmental impact, linking energy consumption to carbon emissions. This would align household predictions with sustainability and climate goals.</a:t>
            </a:r>
            <a:endParaRPr lang="en-IN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2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641B-50FF-B4AE-DC5B-7F8285DF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Bahnschrift" panose="020B0502040204020203" pitchFamily="34" charset="0"/>
              </a:rPr>
              <a:t>Energy Consumption Prediction by Using Machine Learning for Smart Building: Case Study in Malaysia</a:t>
            </a:r>
            <a:endParaRPr lang="en-IN" sz="3200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 descr="Body builder with solid fill">
            <a:extLst>
              <a:ext uri="{FF2B5EF4-FFF2-40B4-BE49-F238E27FC236}">
                <a16:creationId xmlns:a16="http://schemas.microsoft.com/office/drawing/2014/main" id="{1B89BED1-C506-3B71-B63A-EDB251F9F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1705" y="1110070"/>
            <a:ext cx="914400" cy="9144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EEDF00-3C3F-D101-2FCC-C9051A9C1006}"/>
              </a:ext>
            </a:extLst>
          </p:cNvPr>
          <p:cNvSpPr txBox="1"/>
          <p:nvPr/>
        </p:nvSpPr>
        <p:spPr>
          <a:xfrm>
            <a:off x="1176866" y="2517058"/>
            <a:ext cx="70120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 Machine learning models can accurately predict electricity consumption in real smart building scenarios using historical data.</a:t>
            </a:r>
          </a:p>
          <a:p>
            <a:endParaRPr lang="en-US" sz="2000" dirty="0">
              <a:latin typeface="Bahnschrift SemiCondensed" panose="020B0502040204020203" pitchFamily="34" charset="0"/>
            </a:endParaRPr>
          </a:p>
          <a:p>
            <a:r>
              <a:rPr lang="en-US" sz="2000" dirty="0">
                <a:latin typeface="Bahnschrift SemiCondensed" panose="020B0502040204020203" pitchFamily="34" charset="0"/>
              </a:rPr>
              <a:t> Energy usage patterns differ significantly between individual tenants, even within the same commercial building.</a:t>
            </a:r>
          </a:p>
          <a:p>
            <a:endParaRPr lang="en-US" sz="2000" dirty="0">
              <a:latin typeface="Bahnschrift SemiCondensed" panose="020B0502040204020203" pitchFamily="34" charset="0"/>
            </a:endParaRPr>
          </a:p>
          <a:p>
            <a:r>
              <a:rPr lang="en-US" sz="2000" dirty="0">
                <a:latin typeface="Bahnschrift SemiCondensed" panose="020B0502040204020203" pitchFamily="34" charset="0"/>
              </a:rPr>
              <a:t> No single machine learning algorithm consistently outperforms others; </a:t>
            </a:r>
            <a:r>
              <a:rPr lang="en-US" sz="2000" b="1" dirty="0">
                <a:latin typeface="Bahnschrift SemiCondensed" panose="020B0502040204020203" pitchFamily="34" charset="0"/>
              </a:rPr>
              <a:t>model effectiveness depends on tenant behavior and load characteristics</a:t>
            </a:r>
            <a:r>
              <a:rPr lang="en-US" sz="2000" dirty="0">
                <a:latin typeface="Bahnschrift SemiCondensed" panose="020B0502040204020203" pitchFamily="34" charset="0"/>
              </a:rPr>
              <a:t>.</a:t>
            </a:r>
          </a:p>
          <a:p>
            <a:endParaRPr lang="en-US" sz="2000" dirty="0">
              <a:latin typeface="Bahnschrift SemiCondensed" panose="020B0502040204020203" pitchFamily="34" charset="0"/>
            </a:endParaRPr>
          </a:p>
          <a:p>
            <a:r>
              <a:rPr lang="en-US" sz="2000" dirty="0">
                <a:latin typeface="Bahnschrift SemiCondensed" panose="020B0502040204020203" pitchFamily="34" charset="0"/>
              </a:rPr>
              <a:t> Proper data preprocessing (cleaning and normalization) plays a crucial role in improving prediction performance.</a:t>
            </a:r>
          </a:p>
          <a:p>
            <a:endParaRPr lang="en-US" sz="2400" dirty="0">
              <a:latin typeface="Bahnschrift SemiCondensed" panose="020B0502040204020203" pitchFamily="34" charset="0"/>
            </a:endParaRPr>
          </a:p>
          <a:p>
            <a:endParaRPr lang="en-IN" sz="24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36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2765-0495-801B-C188-C82E08A36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Cloud-based tools such as Microsoft Azure Machine Learning Studio are suitable for implementing scalable energy prediction systems</a:t>
            </a:r>
          </a:p>
          <a:p>
            <a:r>
              <a:rPr lang="en-US" sz="2000" dirty="0">
                <a:latin typeface="Bahnschrift SemiCondensed" panose="020B0502040204020203" pitchFamily="34" charset="0"/>
              </a:rPr>
              <a:t>Evaluation metrics like RMSE, NRMSE, and MAPE provide reliable measures for assessing prediction accuracy.</a:t>
            </a:r>
          </a:p>
          <a:p>
            <a:r>
              <a:rPr lang="en-US" sz="2000" dirty="0">
                <a:latin typeface="Bahnschrift SemiCondensed" panose="020B0502040204020203" pitchFamily="34" charset="0"/>
              </a:rPr>
              <a:t>Accurate energy forecasting supports energy efficiency and informed decision-making in smart building management.</a:t>
            </a:r>
            <a:endParaRPr lang="en-IN" sz="2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60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Bahnschrift SemiCondensed" panose="020B0502040204020203" pitchFamily="34" charset="0"/>
              </a:rPr>
              <a:t>1. Raza M.Q. &amp; Khosravi A. (2019). AI-based Load Forecasting, Energy Reports.</a:t>
            </a:r>
          </a:p>
          <a:p>
            <a:r>
              <a:rPr dirty="0">
                <a:latin typeface="Bahnschrift SemiCondensed" panose="020B0502040204020203" pitchFamily="34" charset="0"/>
              </a:rPr>
              <a:t>2. Mocanu E. et al. (2016). Deep Learning for Household Prediction, IEEE.</a:t>
            </a:r>
          </a:p>
          <a:p>
            <a:r>
              <a:rPr dirty="0">
                <a:latin typeface="Bahnschrift SemiCondensed" panose="020B0502040204020203" pitchFamily="34" charset="0"/>
              </a:rPr>
              <a:t>3. UCI Household Power Consumption Dataset.</a:t>
            </a:r>
          </a:p>
          <a:p>
            <a:r>
              <a:rPr dirty="0">
                <a:latin typeface="Bahnschrift SemiCondensed" panose="020B0502040204020203" pitchFamily="34" charset="0"/>
              </a:rPr>
              <a:t>4. Prayas Energy Group – Indian household data.</a:t>
            </a:r>
          </a:p>
          <a:p>
            <a:r>
              <a:rPr dirty="0">
                <a:latin typeface="Bahnschrift SemiCondensed" panose="020B0502040204020203" pitchFamily="34" charset="0"/>
              </a:rPr>
              <a:t>5. ScienceDirect – Hybrid Models for Energy Prediction (2024).</a:t>
            </a:r>
          </a:p>
        </p:txBody>
      </p:sp>
      <p:pic>
        <p:nvPicPr>
          <p:cNvPr id="5" name="Graphic 4" descr="Computer with solid fill">
            <a:extLst>
              <a:ext uri="{FF2B5EF4-FFF2-40B4-BE49-F238E27FC236}">
                <a16:creationId xmlns:a16="http://schemas.microsoft.com/office/drawing/2014/main" id="{565FAD4A-73A4-1524-1639-29BE4D88D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164" y="111007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" panose="020B0502040204020203" pitchFamily="34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430</TotalTime>
  <Words>929</Words>
  <Application>Microsoft Office PowerPoint</Application>
  <PresentationFormat>On-screen Show (4:3)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Bahnschrift</vt:lpstr>
      <vt:lpstr>Bahnschrift SemiCondensed</vt:lpstr>
      <vt:lpstr>Bahnschrift SemiLight</vt:lpstr>
      <vt:lpstr>Garamond</vt:lpstr>
      <vt:lpstr>Organic</vt:lpstr>
      <vt:lpstr>Energy Consumption Prediction in Households using Machine Learning</vt:lpstr>
      <vt:lpstr>Outline</vt:lpstr>
      <vt:lpstr>Introduction                   </vt:lpstr>
      <vt:lpstr>Real Data Example: UCI Household Power Consumption</vt:lpstr>
      <vt:lpstr>Literature Review </vt:lpstr>
      <vt:lpstr>PowerPoint Presentation</vt:lpstr>
      <vt:lpstr>Problem Statement</vt:lpstr>
      <vt:lpstr>Proposed Solution</vt:lpstr>
      <vt:lpstr>PowerPoint Presentation</vt:lpstr>
      <vt:lpstr>Objectives</vt:lpstr>
      <vt:lpstr>Future Research Potential</vt:lpstr>
      <vt:lpstr>PowerPoint Presentation</vt:lpstr>
      <vt:lpstr>Energy Consumption Prediction by Using Machine Learning for Smart Building: Case Study in Malaysia</vt:lpstr>
      <vt:lpstr>PowerPoint Presentation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Chandeshwar Kumar Singh</dc:creator>
  <cp:keywords/>
  <dc:description>generated using python-pptx</dc:description>
  <cp:lastModifiedBy>Chandeshwar Kumar Singh</cp:lastModifiedBy>
  <cp:revision>6</cp:revision>
  <dcterms:created xsi:type="dcterms:W3CDTF">2013-01-27T09:14:16Z</dcterms:created>
  <dcterms:modified xsi:type="dcterms:W3CDTF">2026-02-15T14:33:09Z</dcterms:modified>
  <cp:category/>
</cp:coreProperties>
</file>